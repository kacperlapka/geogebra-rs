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Catamaran Heavy" charset="1" panose="00000A00000000000000"/>
      <p:regular r:id="rId16"/>
    </p:embeddedFont>
    <p:embeddedFont>
      <p:font typeface="Chakra Petch" charset="1" panose="00000500000000000000"/>
      <p:regular r:id="rId17"/>
    </p:embeddedFont>
    <p:embeddedFont>
      <p:font typeface="Chakra Petch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1.png" Type="http://schemas.openxmlformats.org/officeDocument/2006/relationships/image"/><Relationship Id="rId19" Target="../media/image32.svg" Type="http://schemas.openxmlformats.org/officeDocument/2006/relationships/image"/><Relationship Id="rId2" Target="../media/image15.png" Type="http://schemas.openxmlformats.org/officeDocument/2006/relationships/image"/><Relationship Id="rId20" Target="../media/image33.png" Type="http://schemas.openxmlformats.org/officeDocument/2006/relationships/image"/><Relationship Id="rId21" Target="../media/image34.svg" Type="http://schemas.openxmlformats.org/officeDocument/2006/relationships/image"/><Relationship Id="rId22" Target="../media/image35.png" Type="http://schemas.openxmlformats.org/officeDocument/2006/relationships/image"/><Relationship Id="rId23" Target="../media/image36.svg" Type="http://schemas.openxmlformats.org/officeDocument/2006/relationships/image"/><Relationship Id="rId24" Target="../media/image37.png" Type="http://schemas.openxmlformats.org/officeDocument/2006/relationships/image"/><Relationship Id="rId25" Target="../media/image38.svg" Type="http://schemas.openxmlformats.org/officeDocument/2006/relationships/image"/><Relationship Id="rId26" Target="../media/image39.png" Type="http://schemas.openxmlformats.org/officeDocument/2006/relationships/image"/><Relationship Id="rId27" Target="../media/image40.svg" Type="http://schemas.openxmlformats.org/officeDocument/2006/relationships/image"/><Relationship Id="rId28" Target="../media/image41.png" Type="http://schemas.openxmlformats.org/officeDocument/2006/relationships/image"/><Relationship Id="rId29" Target="../media/image42.svg" Type="http://schemas.openxmlformats.org/officeDocument/2006/relationships/image"/><Relationship Id="rId3" Target="../media/image16.svg" Type="http://schemas.openxmlformats.org/officeDocument/2006/relationships/image"/><Relationship Id="rId30" Target="../media/image43.png" Type="http://schemas.openxmlformats.org/officeDocument/2006/relationships/image"/><Relationship Id="rId31" Target="../media/image44.svg" Type="http://schemas.openxmlformats.org/officeDocument/2006/relationships/image"/><Relationship Id="rId32" Target="../media/image45.png" Type="http://schemas.openxmlformats.org/officeDocument/2006/relationships/image"/><Relationship Id="rId33" Target="../media/image46.svg" Type="http://schemas.openxmlformats.org/officeDocument/2006/relationships/image"/><Relationship Id="rId34" Target="../media/image47.png" Type="http://schemas.openxmlformats.org/officeDocument/2006/relationships/image"/><Relationship Id="rId35" Target="../media/image48.svg" Type="http://schemas.openxmlformats.org/officeDocument/2006/relationships/image"/><Relationship Id="rId36" Target="../media/image49.png" Type="http://schemas.openxmlformats.org/officeDocument/2006/relationships/image"/><Relationship Id="rId37" Target="../media/image50.svg" Type="http://schemas.openxmlformats.org/officeDocument/2006/relationships/image"/><Relationship Id="rId38" Target="../media/image51.png" Type="http://schemas.openxmlformats.org/officeDocument/2006/relationships/image"/><Relationship Id="rId39" Target="../media/image52.svg" Type="http://schemas.openxmlformats.org/officeDocument/2006/relationships/image"/><Relationship Id="rId4" Target="../media/image17.png" Type="http://schemas.openxmlformats.org/officeDocument/2006/relationships/image"/><Relationship Id="rId40" Target="../media/image53.png" Type="http://schemas.openxmlformats.org/officeDocument/2006/relationships/image"/><Relationship Id="rId41" Target="../media/image54.svg" Type="http://schemas.openxmlformats.org/officeDocument/2006/relationships/image"/><Relationship Id="rId42" Target="../media/image55.png" Type="http://schemas.openxmlformats.org/officeDocument/2006/relationships/image"/><Relationship Id="rId43" Target="../media/image56.svg" Type="http://schemas.openxmlformats.org/officeDocument/2006/relationships/image"/><Relationship Id="rId44" Target="../media/image57.png" Type="http://schemas.openxmlformats.org/officeDocument/2006/relationships/image"/><Relationship Id="rId45" Target="../media/image58.svg" Type="http://schemas.openxmlformats.org/officeDocument/2006/relationships/image"/><Relationship Id="rId46" Target="../media/image59.png" Type="http://schemas.openxmlformats.org/officeDocument/2006/relationships/image"/><Relationship Id="rId47" Target="../media/image60.svg" Type="http://schemas.openxmlformats.org/officeDocument/2006/relationships/image"/><Relationship Id="rId48" Target="../media/image61.png" Type="http://schemas.openxmlformats.org/officeDocument/2006/relationships/image"/><Relationship Id="rId49" Target="../media/image62.svg" Type="http://schemas.openxmlformats.org/officeDocument/2006/relationships/image"/><Relationship Id="rId5" Target="../media/image18.svg" Type="http://schemas.openxmlformats.org/officeDocument/2006/relationships/image"/><Relationship Id="rId50" Target="../media/image63.png" Type="http://schemas.openxmlformats.org/officeDocument/2006/relationships/image"/><Relationship Id="rId51" Target="../media/image64.svg" Type="http://schemas.openxmlformats.org/officeDocument/2006/relationships/image"/><Relationship Id="rId52" Target="../media/image65.png" Type="http://schemas.openxmlformats.org/officeDocument/2006/relationships/image"/><Relationship Id="rId53" Target="../media/image66.svg" Type="http://schemas.openxmlformats.org/officeDocument/2006/relationships/image"/><Relationship Id="rId54" Target="../media/image67.png" Type="http://schemas.openxmlformats.org/officeDocument/2006/relationships/image"/><Relationship Id="rId55" Target="../media/image68.svg" Type="http://schemas.openxmlformats.org/officeDocument/2006/relationships/image"/><Relationship Id="rId56" Target="../media/image69.png" Type="http://schemas.openxmlformats.org/officeDocument/2006/relationships/image"/><Relationship Id="rId57" Target="../media/image70.svg" Type="http://schemas.openxmlformats.org/officeDocument/2006/relationships/image"/><Relationship Id="rId58" Target="../media/image71.png" Type="http://schemas.openxmlformats.org/officeDocument/2006/relationships/image"/><Relationship Id="rId59" Target="../media/image72.svg" Type="http://schemas.openxmlformats.org/officeDocument/2006/relationships/image"/><Relationship Id="rId6" Target="../media/image19.png" Type="http://schemas.openxmlformats.org/officeDocument/2006/relationships/image"/><Relationship Id="rId60" Target="../media/image73.png" Type="http://schemas.openxmlformats.org/officeDocument/2006/relationships/image"/><Relationship Id="rId61" Target="../media/image74.svg" Type="http://schemas.openxmlformats.org/officeDocument/2006/relationships/image"/><Relationship Id="rId62" Target="../media/image75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../media/image7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9599" y="33189"/>
            <a:ext cx="3434001" cy="7295603"/>
          </a:xfrm>
          <a:custGeom>
            <a:avLst/>
            <a:gdLst/>
            <a:ahLst/>
            <a:cxnLst/>
            <a:rect r="r" b="b" t="t" l="l"/>
            <a:pathLst>
              <a:path h="7295603" w="3434001">
                <a:moveTo>
                  <a:pt x="0" y="0"/>
                </a:moveTo>
                <a:lnTo>
                  <a:pt x="3434001" y="0"/>
                </a:lnTo>
                <a:lnTo>
                  <a:pt x="3434001" y="7295603"/>
                </a:lnTo>
                <a:lnTo>
                  <a:pt x="0" y="7295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7953" b="-2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0515" y="1735603"/>
            <a:ext cx="5735319" cy="3843993"/>
            <a:chOff x="0" y="0"/>
            <a:chExt cx="7647092" cy="512532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7150"/>
              <a:ext cx="7647092" cy="3701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40"/>
                </a:lnSpc>
              </a:pPr>
              <a:r>
                <a:rPr lang="en-US" sz="6400" b="true">
                  <a:solidFill>
                    <a:srgbClr val="204295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Analiza Wymagań dot.</a:t>
              </a:r>
            </a:p>
            <a:p>
              <a:pPr algn="l">
                <a:lnSpc>
                  <a:spcPts val="7040"/>
                </a:lnSpc>
              </a:pPr>
              <a:r>
                <a:rPr lang="en-US" sz="6400" b="true">
                  <a:solidFill>
                    <a:srgbClr val="204295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projektu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589981"/>
              <a:ext cx="5510551" cy="535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Nazwa grupy: Papaya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2290079" cy="7315200"/>
          </a:xfrm>
          <a:prstGeom prst="rect">
            <a:avLst/>
          </a:prstGeom>
          <a:solidFill>
            <a:srgbClr val="3F60BF"/>
          </a:solid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0" y="5025121"/>
            <a:ext cx="2290079" cy="2290079"/>
          </a:xfrm>
          <a:custGeom>
            <a:avLst/>
            <a:gdLst/>
            <a:ahLst/>
            <a:cxnLst/>
            <a:rect r="r" b="b" t="t" l="l"/>
            <a:pathLst>
              <a:path h="2290079" w="2290079">
                <a:moveTo>
                  <a:pt x="0" y="0"/>
                </a:moveTo>
                <a:lnTo>
                  <a:pt x="2290079" y="0"/>
                </a:lnTo>
                <a:lnTo>
                  <a:pt x="2290079" y="2290079"/>
                </a:lnTo>
                <a:lnTo>
                  <a:pt x="0" y="229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90929" y="1681689"/>
            <a:ext cx="6031151" cy="73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96" b="true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Za</a:t>
            </a:r>
            <a:r>
              <a:rPr lang="en-US" b="true" sz="4800" spc="96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sady INVEST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0079" y="3126748"/>
            <a:ext cx="6395701" cy="219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I 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- I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ndependent: niezależne i testowalne osobno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N 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-</a:t>
            </a:r>
            <a:r>
              <a:rPr lang="en-US" b="true" sz="180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 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Negotiable: brak sztywnego kodu, elastyczność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V 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- Valuable: definiują wartość dla odbiorcy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E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 - Estimable: precyzyjnie określone</a:t>
            </a:r>
            <a:r>
              <a:rPr lang="en-US" b="true" sz="180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 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technologie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S 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- Small: małe przyrosty do zrobienia na raz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b="true" sz="180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T </a:t>
            </a:r>
            <a:r>
              <a:rPr lang="en-US" sz="180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- Testable: twarde metryki i warunki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6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5357" y="1055077"/>
            <a:ext cx="6622887" cy="2522354"/>
            <a:chOff x="0" y="0"/>
            <a:chExt cx="8830515" cy="336313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9525"/>
              <a:ext cx="8830515" cy="1106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A5BDFF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Historie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416554" y="1289941"/>
              <a:ext cx="7997408" cy="2073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100" spc="42">
                  <a:solidFill>
                    <a:srgbClr val="FFFFF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W celu dokładniejszego zapoznania się z wymaganiami, silnymi i słabymi stronami, które mogą się znaleźć w trakcie przygotowania projektu przygotowaliśmy historie.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78965" y="4717365"/>
            <a:ext cx="5195671" cy="2597835"/>
          </a:xfrm>
          <a:custGeom>
            <a:avLst/>
            <a:gdLst/>
            <a:ahLst/>
            <a:cxnLst/>
            <a:rect r="r" b="b" t="t" l="l"/>
            <a:pathLst>
              <a:path h="2597835" w="5195671">
                <a:moveTo>
                  <a:pt x="0" y="0"/>
                </a:moveTo>
                <a:lnTo>
                  <a:pt x="5195670" y="0"/>
                </a:lnTo>
                <a:lnTo>
                  <a:pt x="5195670" y="2597835"/>
                </a:lnTo>
                <a:lnTo>
                  <a:pt x="0" y="2597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20340" y="1993150"/>
            <a:ext cx="2969741" cy="950421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AutoShape 3" id="3"/>
          <p:cNvSpPr/>
          <p:nvPr/>
        </p:nvSpPr>
        <p:spPr>
          <a:xfrm rot="0">
            <a:off x="3391930" y="1993150"/>
            <a:ext cx="2969741" cy="1693162"/>
          </a:xfrm>
          <a:prstGeom prst="rect">
            <a:avLst/>
          </a:prstGeom>
          <a:solidFill>
            <a:srgbClr val="3F60BF"/>
          </a:solidFill>
        </p:spPr>
      </p:sp>
      <p:sp>
        <p:nvSpPr>
          <p:cNvPr name="AutoShape 4" id="4"/>
          <p:cNvSpPr/>
          <p:nvPr/>
        </p:nvSpPr>
        <p:spPr>
          <a:xfrm rot="0">
            <a:off x="6563519" y="1993150"/>
            <a:ext cx="2969741" cy="1236171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AutoShape 5" id="5"/>
          <p:cNvSpPr/>
          <p:nvPr/>
        </p:nvSpPr>
        <p:spPr>
          <a:xfrm rot="0">
            <a:off x="46228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46228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7" id="7"/>
          <p:cNvSpPr/>
          <p:nvPr/>
        </p:nvSpPr>
        <p:spPr>
          <a:xfrm rot="0">
            <a:off x="46228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447712" y="2185092"/>
            <a:ext cx="2485861" cy="53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Jako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student lub wykładowca,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4146" y="148957"/>
            <a:ext cx="6776173" cy="2054389"/>
            <a:chOff x="0" y="0"/>
            <a:chExt cx="9034897" cy="273918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9034897" cy="1106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A5BDFF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H1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2741" y="1194288"/>
              <a:ext cx="8329415" cy="1544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100" spc="42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Rysow</a:t>
              </a:r>
              <a:r>
                <a:rPr lang="en-US" sz="2100" spc="42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anie Wykresu i Płynna Nawigacja Widokiem</a:t>
              </a:r>
            </a:p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363387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3" id="13"/>
          <p:cNvSpPr/>
          <p:nvPr/>
        </p:nvSpPr>
        <p:spPr>
          <a:xfrm rot="0">
            <a:off x="363387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4" id="14"/>
          <p:cNvSpPr/>
          <p:nvPr/>
        </p:nvSpPr>
        <p:spPr>
          <a:xfrm rot="0">
            <a:off x="363387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3633870" y="2127443"/>
            <a:ext cx="248586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Chcę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wprowadzić wzór funkcji analitycznej oraz płynnie przesuwać i przybliżać układ współrzędnych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6805459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7" id="17"/>
          <p:cNvSpPr/>
          <p:nvPr/>
        </p:nvSpPr>
        <p:spPr>
          <a:xfrm rot="0">
            <a:off x="6805459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8" id="18"/>
          <p:cNvSpPr/>
          <p:nvPr/>
        </p:nvSpPr>
        <p:spPr>
          <a:xfrm rot="0">
            <a:off x="6805459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6790891" y="2185092"/>
            <a:ext cx="2485861" cy="81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Aby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intuicyjnie zbadać lokalne i globalne zachowanie funkcji.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149" y="1831088"/>
            <a:ext cx="324123" cy="324123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F60BF"/>
            </a:solidFill>
          </p:spPr>
        </p:sp>
      </p:grpSp>
      <p:sp>
        <p:nvSpPr>
          <p:cNvPr name="AutoShape 22" id="22"/>
          <p:cNvSpPr/>
          <p:nvPr/>
        </p:nvSpPr>
        <p:spPr>
          <a:xfrm rot="0">
            <a:off x="4714739" y="1831088"/>
            <a:ext cx="324123" cy="324123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Freeform 23" id="23"/>
          <p:cNvSpPr/>
          <p:nvPr/>
        </p:nvSpPr>
        <p:spPr>
          <a:xfrm flipH="false" flipV="false" rot="0">
            <a:off x="7857192" y="1831088"/>
            <a:ext cx="382396" cy="331142"/>
          </a:xfrm>
          <a:custGeom>
            <a:avLst/>
            <a:gdLst/>
            <a:ahLst/>
            <a:cxnLst/>
            <a:rect r="r" b="b" t="t" l="l"/>
            <a:pathLst>
              <a:path h="331142" w="382396">
                <a:moveTo>
                  <a:pt x="0" y="0"/>
                </a:moveTo>
                <a:lnTo>
                  <a:pt x="382396" y="0"/>
                </a:lnTo>
                <a:lnTo>
                  <a:pt x="382396" y="331142"/>
                </a:lnTo>
                <a:lnTo>
                  <a:pt x="0" y="331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rot="0">
            <a:off x="46228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5" id="25"/>
          <p:cNvSpPr/>
          <p:nvPr/>
        </p:nvSpPr>
        <p:spPr>
          <a:xfrm rot="0">
            <a:off x="363387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6" id="26"/>
          <p:cNvSpPr/>
          <p:nvPr/>
        </p:nvSpPr>
        <p:spPr>
          <a:xfrm rot="0">
            <a:off x="6805459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7" id="27"/>
          <p:cNvSpPr/>
          <p:nvPr/>
        </p:nvSpPr>
        <p:spPr>
          <a:xfrm rot="0">
            <a:off x="205772" y="5212773"/>
            <a:ext cx="2969741" cy="1559413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AutoShape 28" id="28"/>
          <p:cNvSpPr/>
          <p:nvPr/>
        </p:nvSpPr>
        <p:spPr>
          <a:xfrm rot="0">
            <a:off x="3377362" y="4728954"/>
            <a:ext cx="2969741" cy="2043232"/>
          </a:xfrm>
          <a:prstGeom prst="rect">
            <a:avLst/>
          </a:prstGeom>
          <a:solidFill>
            <a:srgbClr val="3F60BF"/>
          </a:solidFill>
        </p:spPr>
      </p:sp>
      <p:sp>
        <p:nvSpPr>
          <p:cNvPr name="AutoShape 29" id="29"/>
          <p:cNvSpPr/>
          <p:nvPr/>
        </p:nvSpPr>
        <p:spPr>
          <a:xfrm rot="0">
            <a:off x="6548951" y="3952802"/>
            <a:ext cx="2969741" cy="2819384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462280" y="5624323"/>
            <a:ext cx="2485861" cy="81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Mając (Given)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aktywną sesję strony projektowej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633870" y="5155623"/>
            <a:ext cx="248586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Gdy (When)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użytkownik wpisze w polu formuły f(x) = x^3 - 3*x + 1 i zatwierdzi klawiszem Enter,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rot="0">
            <a:off x="1629777" y="3029295"/>
            <a:ext cx="124650" cy="2012028"/>
          </a:xfrm>
          <a:prstGeom prst="rect">
            <a:avLst/>
          </a:prstGeom>
          <a:solidFill>
            <a:srgbClr val="3F60BF"/>
          </a:solidFill>
        </p:spPr>
      </p:sp>
      <p:sp>
        <p:nvSpPr>
          <p:cNvPr name="AutoShape 33" id="33"/>
          <p:cNvSpPr/>
          <p:nvPr/>
        </p:nvSpPr>
        <p:spPr>
          <a:xfrm rot="0">
            <a:off x="4821426" y="3772036"/>
            <a:ext cx="118456" cy="766916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867272" y="6857911"/>
            <a:ext cx="6483649" cy="62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1640">
                <a:solidFill>
                  <a:srgbClr val="A5BDFF"/>
                </a:solidFill>
                <a:latin typeface="Chakra Petch"/>
                <a:ea typeface="Chakra Petch"/>
                <a:cs typeface="Chakra Petch"/>
                <a:sym typeface="Chakra Petch"/>
              </a:rPr>
              <a:t>Kryteria Akceptacji (GIVEN-WHEN-THEN / DANE-GDY-WTEDY):</a:t>
            </a:r>
          </a:p>
          <a:p>
            <a:pPr algn="ctr">
              <a:lnSpc>
                <a:spcPts val="2624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596175" y="4095324"/>
            <a:ext cx="2904430" cy="27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Wtedy (Then)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płótno wgpu wyrenderuje ciągłą krzywą w bieżącym obszarze widocznym w czasie &lt; 16ms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(&lt; 1 klatki), dynamicznie dostosowując gęstość podziałki siatki i etykiety osi podczas przewijania kółkiem myszy (zoom) oraz przeciągania kursorem (pan).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AutoShape 36" id="36"/>
          <p:cNvSpPr/>
          <p:nvPr/>
        </p:nvSpPr>
        <p:spPr>
          <a:xfrm rot="0">
            <a:off x="7984386" y="3305520"/>
            <a:ext cx="121371" cy="542507"/>
          </a:xfrm>
          <a:prstGeom prst="rect">
            <a:avLst/>
          </a:prstGeom>
          <a:solidFill>
            <a:srgbClr val="3F60BF"/>
          </a:solid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20340" y="1993150"/>
            <a:ext cx="2969741" cy="1179021"/>
          </a:xfrm>
          <a:prstGeom prst="rect">
            <a:avLst/>
          </a:prstGeom>
          <a:solidFill>
            <a:srgbClr val="E2A9F1"/>
          </a:solidFill>
        </p:spPr>
      </p:sp>
      <p:sp>
        <p:nvSpPr>
          <p:cNvPr name="AutoShape 3" id="3"/>
          <p:cNvSpPr/>
          <p:nvPr/>
        </p:nvSpPr>
        <p:spPr>
          <a:xfrm rot="0">
            <a:off x="3391930" y="1993150"/>
            <a:ext cx="2969741" cy="1693162"/>
          </a:xfrm>
          <a:prstGeom prst="rect">
            <a:avLst/>
          </a:prstGeom>
          <a:solidFill>
            <a:srgbClr val="CB6CE6"/>
          </a:solidFill>
        </p:spPr>
      </p:sp>
      <p:sp>
        <p:nvSpPr>
          <p:cNvPr name="AutoShape 4" id="4"/>
          <p:cNvSpPr/>
          <p:nvPr/>
        </p:nvSpPr>
        <p:spPr>
          <a:xfrm rot="0">
            <a:off x="6563519" y="1993150"/>
            <a:ext cx="2969741" cy="1422935"/>
          </a:xfrm>
          <a:prstGeom prst="rect">
            <a:avLst/>
          </a:prstGeom>
          <a:solidFill>
            <a:srgbClr val="8C52FF"/>
          </a:solidFill>
        </p:spPr>
      </p:sp>
      <p:sp>
        <p:nvSpPr>
          <p:cNvPr name="AutoShape 5" id="5"/>
          <p:cNvSpPr/>
          <p:nvPr/>
        </p:nvSpPr>
        <p:spPr>
          <a:xfrm rot="0">
            <a:off x="46228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46228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7" id="7"/>
          <p:cNvSpPr/>
          <p:nvPr/>
        </p:nvSpPr>
        <p:spPr>
          <a:xfrm rot="0">
            <a:off x="46228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447712" y="2146196"/>
            <a:ext cx="2485861" cy="81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Jako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student analizy matematycznej,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4146" y="148957"/>
            <a:ext cx="6776173" cy="2056870"/>
            <a:chOff x="0" y="0"/>
            <a:chExt cx="9034897" cy="274249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9034897" cy="1094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CB6CE6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H2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2741" y="1182190"/>
              <a:ext cx="8329415" cy="1560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100" spc="42">
                  <a:solidFill>
                    <a:srgbClr val="CB6CE6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 Oblicz</a:t>
              </a:r>
              <a:r>
                <a:rPr lang="en-US" sz="2100" spc="42">
                  <a:solidFill>
                    <a:srgbClr val="CB6CE6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anie Pierwszej i Drugiej Pochodnej oraz Badanie Stycznej</a:t>
              </a:r>
            </a:p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363387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3" id="13"/>
          <p:cNvSpPr/>
          <p:nvPr/>
        </p:nvSpPr>
        <p:spPr>
          <a:xfrm rot="0">
            <a:off x="363387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4" id="14"/>
          <p:cNvSpPr/>
          <p:nvPr/>
        </p:nvSpPr>
        <p:spPr>
          <a:xfrm rot="0">
            <a:off x="363387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3619302" y="2127443"/>
            <a:ext cx="248586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Chcę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automatycznie wyznaczyć wzory f'(x) i f''(x) oraz badać prostą styczną w wybranym punkcie x_0,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6805459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7" id="17"/>
          <p:cNvSpPr/>
          <p:nvPr/>
        </p:nvSpPr>
        <p:spPr>
          <a:xfrm rot="0">
            <a:off x="6805459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8" id="18"/>
          <p:cNvSpPr/>
          <p:nvPr/>
        </p:nvSpPr>
        <p:spPr>
          <a:xfrm rot="0">
            <a:off x="6805459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6790891" y="2127443"/>
            <a:ext cx="2485861" cy="109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Aby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wizualnie powiązać nachylenie krzywej z wartością jej pochodnej.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149" y="1831088"/>
            <a:ext cx="324123" cy="324123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</p:grpSp>
      <p:sp>
        <p:nvSpPr>
          <p:cNvPr name="AutoShape 22" id="22"/>
          <p:cNvSpPr/>
          <p:nvPr/>
        </p:nvSpPr>
        <p:spPr>
          <a:xfrm rot="0">
            <a:off x="4714739" y="1831088"/>
            <a:ext cx="324123" cy="324123"/>
          </a:xfrm>
          <a:prstGeom prst="rect">
            <a:avLst/>
          </a:prstGeom>
          <a:solidFill>
            <a:srgbClr val="8C52FF"/>
          </a:solidFill>
        </p:spPr>
      </p:sp>
      <p:sp>
        <p:nvSpPr>
          <p:cNvPr name="Freeform 23" id="23"/>
          <p:cNvSpPr/>
          <p:nvPr/>
        </p:nvSpPr>
        <p:spPr>
          <a:xfrm flipH="false" flipV="false" rot="0">
            <a:off x="7857192" y="1831088"/>
            <a:ext cx="382396" cy="331142"/>
          </a:xfrm>
          <a:custGeom>
            <a:avLst/>
            <a:gdLst/>
            <a:ahLst/>
            <a:cxnLst/>
            <a:rect r="r" b="b" t="t" l="l"/>
            <a:pathLst>
              <a:path h="331142" w="382396">
                <a:moveTo>
                  <a:pt x="0" y="0"/>
                </a:moveTo>
                <a:lnTo>
                  <a:pt x="382396" y="0"/>
                </a:lnTo>
                <a:lnTo>
                  <a:pt x="382396" y="331142"/>
                </a:lnTo>
                <a:lnTo>
                  <a:pt x="0" y="331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rot="0">
            <a:off x="46228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5" id="25"/>
          <p:cNvSpPr/>
          <p:nvPr/>
        </p:nvSpPr>
        <p:spPr>
          <a:xfrm rot="0">
            <a:off x="363387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6" id="26"/>
          <p:cNvSpPr/>
          <p:nvPr/>
        </p:nvSpPr>
        <p:spPr>
          <a:xfrm rot="0">
            <a:off x="6805459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7" id="27"/>
          <p:cNvSpPr/>
          <p:nvPr/>
        </p:nvSpPr>
        <p:spPr>
          <a:xfrm rot="0">
            <a:off x="205772" y="4511779"/>
            <a:ext cx="2969741" cy="2260408"/>
          </a:xfrm>
          <a:prstGeom prst="rect">
            <a:avLst/>
          </a:prstGeom>
          <a:solidFill>
            <a:srgbClr val="E2A9F1"/>
          </a:solidFill>
        </p:spPr>
      </p:sp>
      <p:sp>
        <p:nvSpPr>
          <p:cNvPr name="AutoShape 28" id="28"/>
          <p:cNvSpPr/>
          <p:nvPr/>
        </p:nvSpPr>
        <p:spPr>
          <a:xfrm rot="0">
            <a:off x="3377362" y="4511779"/>
            <a:ext cx="2969741" cy="2260408"/>
          </a:xfrm>
          <a:prstGeom prst="rect">
            <a:avLst/>
          </a:prstGeom>
          <a:solidFill>
            <a:srgbClr val="CB6CE6"/>
          </a:solidFill>
        </p:spPr>
      </p:sp>
      <p:sp>
        <p:nvSpPr>
          <p:cNvPr name="AutoShape 29" id="29"/>
          <p:cNvSpPr/>
          <p:nvPr/>
        </p:nvSpPr>
        <p:spPr>
          <a:xfrm rot="0">
            <a:off x="6548951" y="3952802"/>
            <a:ext cx="2969741" cy="2819384"/>
          </a:xfrm>
          <a:prstGeom prst="rect">
            <a:avLst/>
          </a:prstGeom>
          <a:solidFill>
            <a:srgbClr val="8C52FF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462280" y="4991976"/>
            <a:ext cx="248586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Mając (Given)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wykreśloną funkcję f(x) i włączony znacznik inspekcji w punkcie x_0 = 1.5,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619302" y="4991976"/>
            <a:ext cx="248586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Gdy (When)</a:t>
            </a:r>
          </a:p>
          <a:p>
            <a:pPr algn="ctr">
              <a:lnSpc>
                <a:spcPts val="2240"/>
              </a:lnSpc>
            </a:pPr>
            <a:r>
              <a:rPr lang="en-US" b="true" sz="1400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 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użytkownik zaznaczy opcję „Pokaż pochodną” i przesunie suwak punktu x_0,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rot="0">
            <a:off x="1624569" y="3348029"/>
            <a:ext cx="110011" cy="987890"/>
          </a:xfrm>
          <a:prstGeom prst="rect">
            <a:avLst/>
          </a:prstGeom>
          <a:solidFill>
            <a:srgbClr val="CB6CE6"/>
          </a:solidFill>
        </p:spPr>
      </p:sp>
      <p:sp>
        <p:nvSpPr>
          <p:cNvPr name="AutoShape 33" id="33"/>
          <p:cNvSpPr/>
          <p:nvPr/>
        </p:nvSpPr>
        <p:spPr>
          <a:xfrm rot="0">
            <a:off x="4841286" y="3772036"/>
            <a:ext cx="98596" cy="596867"/>
          </a:xfrm>
          <a:prstGeom prst="rect">
            <a:avLst/>
          </a:prstGeom>
          <a:solidFill>
            <a:srgbClr val="8C52F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867272" y="6857911"/>
            <a:ext cx="6483649" cy="62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1640">
                <a:solidFill>
                  <a:srgbClr val="A5BDFF"/>
                </a:solidFill>
                <a:latin typeface="Chakra Petch"/>
                <a:ea typeface="Chakra Petch"/>
                <a:cs typeface="Chakra Petch"/>
                <a:sym typeface="Chakra Petch"/>
              </a:rPr>
              <a:t>Kryteria Akceptacji (GIVEN-WHEN-THEN / DANE-GDY-WTEDY):</a:t>
            </a:r>
          </a:p>
          <a:p>
            <a:pPr algn="ctr">
              <a:lnSpc>
                <a:spcPts val="2624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596175" y="4102944"/>
            <a:ext cx="2904430" cy="27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Wtedy (Then)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silnik w WASM wyznaczy postać symboliczną pochodnej, wyrenderuje krzywą f'(x) linią przerywaną oraz wyświetli prostą styczną y = f'(x_0)(x - x_0) + f(x_0), poruszającą się synchronicznie w czasie rzeczywistym z płynnością 60 FPS.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AutoShape 36" id="36"/>
          <p:cNvSpPr/>
          <p:nvPr/>
        </p:nvSpPr>
        <p:spPr>
          <a:xfrm rot="0">
            <a:off x="7984386" y="3524595"/>
            <a:ext cx="128008" cy="323432"/>
          </a:xfrm>
          <a:prstGeom prst="rect">
            <a:avLst/>
          </a:prstGeom>
          <a:solidFill>
            <a:srgbClr val="E2A9F1"/>
          </a:solid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20340" y="1993150"/>
            <a:ext cx="2969741" cy="1422935"/>
          </a:xfrm>
          <a:prstGeom prst="rect">
            <a:avLst/>
          </a:prstGeom>
          <a:solidFill>
            <a:srgbClr val="A6A6A6"/>
          </a:solidFill>
        </p:spPr>
      </p:sp>
      <p:sp>
        <p:nvSpPr>
          <p:cNvPr name="AutoShape 3" id="3"/>
          <p:cNvSpPr/>
          <p:nvPr/>
        </p:nvSpPr>
        <p:spPr>
          <a:xfrm rot="0">
            <a:off x="3391930" y="1993150"/>
            <a:ext cx="2969741" cy="1693162"/>
          </a:xfrm>
          <a:prstGeom prst="rect">
            <a:avLst/>
          </a:prstGeom>
          <a:solidFill>
            <a:srgbClr val="737373"/>
          </a:solidFill>
        </p:spPr>
      </p:sp>
      <p:sp>
        <p:nvSpPr>
          <p:cNvPr name="AutoShape 4" id="4"/>
          <p:cNvSpPr/>
          <p:nvPr/>
        </p:nvSpPr>
        <p:spPr>
          <a:xfrm rot="0">
            <a:off x="6563519" y="1993150"/>
            <a:ext cx="2969741" cy="1217121"/>
          </a:xfrm>
          <a:prstGeom prst="rect">
            <a:avLst/>
          </a:prstGeom>
          <a:solidFill>
            <a:srgbClr val="A6A6A6"/>
          </a:solidFill>
        </p:spPr>
      </p:sp>
      <p:sp>
        <p:nvSpPr>
          <p:cNvPr name="AutoShape 5" id="5"/>
          <p:cNvSpPr/>
          <p:nvPr/>
        </p:nvSpPr>
        <p:spPr>
          <a:xfrm rot="0">
            <a:off x="46228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46228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7" id="7"/>
          <p:cNvSpPr/>
          <p:nvPr/>
        </p:nvSpPr>
        <p:spPr>
          <a:xfrm rot="0">
            <a:off x="46228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447712" y="2119124"/>
            <a:ext cx="2485861" cy="109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Jako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student rozwiązujący zadanie z badania przebiegu zmienności funkcji,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4146" y="148957"/>
            <a:ext cx="6776173" cy="2056870"/>
            <a:chOff x="0" y="0"/>
            <a:chExt cx="9034897" cy="274249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9034897" cy="1094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737373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H3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2741" y="1182190"/>
              <a:ext cx="8329415" cy="1560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100" spc="42">
                  <a:solidFill>
                    <a:srgbClr val="A6A6A6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Aut</a:t>
              </a:r>
              <a:r>
                <a:rPr lang="en-US" sz="2100" spc="42">
                  <a:solidFill>
                    <a:srgbClr val="A6A6A6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omatyczna Detekcja Miejsc Zerowych, Ekstremów i Punktów Przegięcia</a:t>
              </a:r>
            </a:p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363387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3" id="13"/>
          <p:cNvSpPr/>
          <p:nvPr/>
        </p:nvSpPr>
        <p:spPr>
          <a:xfrm rot="0">
            <a:off x="363387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4" id="14"/>
          <p:cNvSpPr/>
          <p:nvPr/>
        </p:nvSpPr>
        <p:spPr>
          <a:xfrm rot="0">
            <a:off x="363387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3619302" y="2127443"/>
            <a:ext cx="248586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Chcę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automatycznie zlokalizować pierwiastki, ekstrema lokalne i punkty przegięcia na widocznym przedziale,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6805459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7" id="17"/>
          <p:cNvSpPr/>
          <p:nvPr/>
        </p:nvSpPr>
        <p:spPr>
          <a:xfrm rot="0">
            <a:off x="6805459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8" id="18"/>
          <p:cNvSpPr/>
          <p:nvPr/>
        </p:nvSpPr>
        <p:spPr>
          <a:xfrm rot="0">
            <a:off x="6805459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6790891" y="2185092"/>
            <a:ext cx="2485861" cy="81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Aby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zweryfikować poprawność moich obliczeń analitycznych.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149" y="1831088"/>
            <a:ext cx="324123" cy="324123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sp>
        <p:nvSpPr>
          <p:cNvPr name="AutoShape 22" id="22"/>
          <p:cNvSpPr/>
          <p:nvPr/>
        </p:nvSpPr>
        <p:spPr>
          <a:xfrm rot="0">
            <a:off x="4714739" y="1831088"/>
            <a:ext cx="324123" cy="324123"/>
          </a:xfrm>
          <a:prstGeom prst="rect">
            <a:avLst/>
          </a:prstGeom>
          <a:solidFill>
            <a:srgbClr val="A6A6A6"/>
          </a:solidFill>
        </p:spPr>
      </p:sp>
      <p:sp>
        <p:nvSpPr>
          <p:cNvPr name="Freeform 23" id="23"/>
          <p:cNvSpPr/>
          <p:nvPr/>
        </p:nvSpPr>
        <p:spPr>
          <a:xfrm flipH="false" flipV="false" rot="0">
            <a:off x="7857192" y="1831088"/>
            <a:ext cx="382396" cy="331142"/>
          </a:xfrm>
          <a:custGeom>
            <a:avLst/>
            <a:gdLst/>
            <a:ahLst/>
            <a:cxnLst/>
            <a:rect r="r" b="b" t="t" l="l"/>
            <a:pathLst>
              <a:path h="331142" w="382396">
                <a:moveTo>
                  <a:pt x="0" y="0"/>
                </a:moveTo>
                <a:lnTo>
                  <a:pt x="382396" y="0"/>
                </a:lnTo>
                <a:lnTo>
                  <a:pt x="382396" y="331142"/>
                </a:lnTo>
                <a:lnTo>
                  <a:pt x="0" y="331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rot="0">
            <a:off x="46228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5" id="25"/>
          <p:cNvSpPr/>
          <p:nvPr/>
        </p:nvSpPr>
        <p:spPr>
          <a:xfrm rot="0">
            <a:off x="363387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6" id="26"/>
          <p:cNvSpPr/>
          <p:nvPr/>
        </p:nvSpPr>
        <p:spPr>
          <a:xfrm rot="0">
            <a:off x="6805459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7" id="27"/>
          <p:cNvSpPr/>
          <p:nvPr/>
        </p:nvSpPr>
        <p:spPr>
          <a:xfrm rot="0">
            <a:off x="205772" y="5219627"/>
            <a:ext cx="2969741" cy="1552559"/>
          </a:xfrm>
          <a:prstGeom prst="rect">
            <a:avLst/>
          </a:prstGeom>
          <a:solidFill>
            <a:srgbClr val="A6A6A6"/>
          </a:solidFill>
        </p:spPr>
      </p:sp>
      <p:sp>
        <p:nvSpPr>
          <p:cNvPr name="AutoShape 28" id="28"/>
          <p:cNvSpPr/>
          <p:nvPr/>
        </p:nvSpPr>
        <p:spPr>
          <a:xfrm rot="0">
            <a:off x="3377362" y="5219627"/>
            <a:ext cx="2969741" cy="1552559"/>
          </a:xfrm>
          <a:prstGeom prst="rect">
            <a:avLst/>
          </a:prstGeom>
          <a:solidFill>
            <a:srgbClr val="737373"/>
          </a:solidFill>
        </p:spPr>
      </p:sp>
      <p:sp>
        <p:nvSpPr>
          <p:cNvPr name="AutoShape 29" id="29"/>
          <p:cNvSpPr/>
          <p:nvPr/>
        </p:nvSpPr>
        <p:spPr>
          <a:xfrm rot="0">
            <a:off x="6548951" y="3952802"/>
            <a:ext cx="2969741" cy="2819384"/>
          </a:xfrm>
          <a:prstGeom prst="rect">
            <a:avLst/>
          </a:prstGeom>
          <a:solidFill>
            <a:srgbClr val="A6A6A6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462280" y="5561174"/>
            <a:ext cx="2485861" cy="81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Mając (Given)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funkcję różniczkowalną f(x) na przedziale [x_min, x_max],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619302" y="5421759"/>
            <a:ext cx="2485861" cy="109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Gdy (When)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użytkownik kliknie przycisk „Zbadaj właściwości funkcji”,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rot="0">
            <a:off x="1648218" y="3524595"/>
            <a:ext cx="114024" cy="1466432"/>
          </a:xfrm>
          <a:prstGeom prst="rect">
            <a:avLst/>
          </a:prstGeom>
          <a:solidFill>
            <a:srgbClr val="737373"/>
          </a:solidFill>
        </p:spPr>
      </p:sp>
      <p:sp>
        <p:nvSpPr>
          <p:cNvPr name="AutoShape 33" id="33"/>
          <p:cNvSpPr/>
          <p:nvPr/>
        </p:nvSpPr>
        <p:spPr>
          <a:xfrm rot="0">
            <a:off x="4850556" y="3772036"/>
            <a:ext cx="89326" cy="1218991"/>
          </a:xfrm>
          <a:prstGeom prst="rect">
            <a:avLst/>
          </a:prstGeom>
          <a:solidFill>
            <a:srgbClr val="A6A6A6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867272" y="6857911"/>
            <a:ext cx="6483649" cy="62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1640">
                <a:solidFill>
                  <a:srgbClr val="A5BDFF"/>
                </a:solidFill>
                <a:latin typeface="Chakra Petch"/>
                <a:ea typeface="Chakra Petch"/>
                <a:cs typeface="Chakra Petch"/>
                <a:sym typeface="Chakra Petch"/>
              </a:rPr>
              <a:t>Kryteria Akceptacji (GIVEN-WHEN-THEN / DANE-GDY-WTEDY):</a:t>
            </a:r>
          </a:p>
          <a:p>
            <a:pPr algn="ctr">
              <a:lnSpc>
                <a:spcPts val="2624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596175" y="4102944"/>
            <a:ext cx="2904430" cy="247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Wtedy (Then)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silnik Rust WASM wyznaczy miejsca zerowe (f(x) = 0), punkty stacjonarne (f'(x) = 0) oraz punkty przegięcia (f''(x) = 0), nanosząc na wykres wyróżnione punkty z dokładnymi współrzędnymi widocznymi po najechaniu kursorem (tooltip).</a:t>
            </a:r>
          </a:p>
        </p:txBody>
      </p:sp>
      <p:sp>
        <p:nvSpPr>
          <p:cNvPr name="AutoShape 36" id="36"/>
          <p:cNvSpPr/>
          <p:nvPr/>
        </p:nvSpPr>
        <p:spPr>
          <a:xfrm rot="0">
            <a:off x="7984386" y="3416084"/>
            <a:ext cx="81534" cy="431943"/>
          </a:xfrm>
          <a:prstGeom prst="rect">
            <a:avLst/>
          </a:prstGeom>
          <a:solidFill>
            <a:srgbClr val="737373"/>
          </a:solid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20340" y="1993150"/>
            <a:ext cx="2969741" cy="1036146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AutoShape 3" id="3"/>
          <p:cNvSpPr/>
          <p:nvPr/>
        </p:nvSpPr>
        <p:spPr>
          <a:xfrm rot="0">
            <a:off x="3391930" y="1993150"/>
            <a:ext cx="2969741" cy="1693162"/>
          </a:xfrm>
          <a:prstGeom prst="rect">
            <a:avLst/>
          </a:prstGeom>
          <a:solidFill>
            <a:srgbClr val="3F60BF"/>
          </a:solidFill>
        </p:spPr>
      </p:sp>
      <p:sp>
        <p:nvSpPr>
          <p:cNvPr name="AutoShape 4" id="4"/>
          <p:cNvSpPr/>
          <p:nvPr/>
        </p:nvSpPr>
        <p:spPr>
          <a:xfrm rot="0">
            <a:off x="6563519" y="1993150"/>
            <a:ext cx="2969741" cy="1422935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AutoShape 5" id="5"/>
          <p:cNvSpPr/>
          <p:nvPr/>
        </p:nvSpPr>
        <p:spPr>
          <a:xfrm rot="0">
            <a:off x="46228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46228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7" id="7"/>
          <p:cNvSpPr/>
          <p:nvPr/>
        </p:nvSpPr>
        <p:spPr>
          <a:xfrm rot="0">
            <a:off x="46228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447712" y="2185092"/>
            <a:ext cx="2485861" cy="53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Jako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wykładowca matematyki,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4146" y="148957"/>
            <a:ext cx="6776173" cy="1658163"/>
            <a:chOff x="0" y="0"/>
            <a:chExt cx="9034897" cy="221088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9034897" cy="1106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A5BDFF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H4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2741" y="1194288"/>
              <a:ext cx="8329415" cy="1016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100" spc="42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Wykry</a:t>
              </a:r>
              <a:r>
                <a:rPr lang="en-US" sz="2100" spc="42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wanie Osobliwości, Nieciągłości i Asymptot</a:t>
              </a:r>
            </a:p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363387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3" id="13"/>
          <p:cNvSpPr/>
          <p:nvPr/>
        </p:nvSpPr>
        <p:spPr>
          <a:xfrm rot="0">
            <a:off x="363387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4" id="14"/>
          <p:cNvSpPr/>
          <p:nvPr/>
        </p:nvSpPr>
        <p:spPr>
          <a:xfrm rot="0">
            <a:off x="363387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3399365" y="2157170"/>
            <a:ext cx="2962305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Chcę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aby aplikacja poprawnie rozpoznawała i wykreślała asymptoty pionowe, poziome i ukośne bez artefaktów graficznych,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6805459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7" id="17"/>
          <p:cNvSpPr/>
          <p:nvPr/>
        </p:nvSpPr>
        <p:spPr>
          <a:xfrm rot="0">
            <a:off x="6805459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8" id="18"/>
          <p:cNvSpPr/>
          <p:nvPr/>
        </p:nvSpPr>
        <p:spPr>
          <a:xfrm rot="0">
            <a:off x="6805459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6790891" y="2185092"/>
            <a:ext cx="2485861" cy="109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Aby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mo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i studenci nie mylili osobliwości z gwałtownymi zmianami funkcji ciągłej.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149" y="1831088"/>
            <a:ext cx="324123" cy="324123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F60BF"/>
            </a:solidFill>
          </p:spPr>
        </p:sp>
      </p:grpSp>
      <p:sp>
        <p:nvSpPr>
          <p:cNvPr name="AutoShape 22" id="22"/>
          <p:cNvSpPr/>
          <p:nvPr/>
        </p:nvSpPr>
        <p:spPr>
          <a:xfrm rot="0">
            <a:off x="4714739" y="1831088"/>
            <a:ext cx="324123" cy="324123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Freeform 23" id="23"/>
          <p:cNvSpPr/>
          <p:nvPr/>
        </p:nvSpPr>
        <p:spPr>
          <a:xfrm flipH="false" flipV="false" rot="0">
            <a:off x="7857192" y="1831088"/>
            <a:ext cx="382396" cy="331142"/>
          </a:xfrm>
          <a:custGeom>
            <a:avLst/>
            <a:gdLst/>
            <a:ahLst/>
            <a:cxnLst/>
            <a:rect r="r" b="b" t="t" l="l"/>
            <a:pathLst>
              <a:path h="331142" w="382396">
                <a:moveTo>
                  <a:pt x="0" y="0"/>
                </a:moveTo>
                <a:lnTo>
                  <a:pt x="382396" y="0"/>
                </a:lnTo>
                <a:lnTo>
                  <a:pt x="382396" y="331142"/>
                </a:lnTo>
                <a:lnTo>
                  <a:pt x="0" y="331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rot="0">
            <a:off x="46228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5" id="25"/>
          <p:cNvSpPr/>
          <p:nvPr/>
        </p:nvSpPr>
        <p:spPr>
          <a:xfrm rot="0">
            <a:off x="363387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6" id="26"/>
          <p:cNvSpPr/>
          <p:nvPr/>
        </p:nvSpPr>
        <p:spPr>
          <a:xfrm rot="0">
            <a:off x="6805459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7" id="27"/>
          <p:cNvSpPr/>
          <p:nvPr/>
        </p:nvSpPr>
        <p:spPr>
          <a:xfrm rot="0">
            <a:off x="205772" y="4862622"/>
            <a:ext cx="2969741" cy="1909564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AutoShape 28" id="28"/>
          <p:cNvSpPr/>
          <p:nvPr/>
        </p:nvSpPr>
        <p:spPr>
          <a:xfrm rot="0">
            <a:off x="3377362" y="4862622"/>
            <a:ext cx="2969741" cy="1909564"/>
          </a:xfrm>
          <a:prstGeom prst="rect">
            <a:avLst/>
          </a:prstGeom>
          <a:solidFill>
            <a:srgbClr val="3F60BF"/>
          </a:solidFill>
        </p:spPr>
      </p:sp>
      <p:sp>
        <p:nvSpPr>
          <p:cNvPr name="AutoShape 29" id="29"/>
          <p:cNvSpPr/>
          <p:nvPr/>
        </p:nvSpPr>
        <p:spPr>
          <a:xfrm rot="0">
            <a:off x="6548951" y="3952802"/>
            <a:ext cx="2969741" cy="2819384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447712" y="5220693"/>
            <a:ext cx="2485861" cy="109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Mając (Given)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funkcję wymierną, np. f(x) = {x^2 - 1}/{x - 2},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619302" y="5146366"/>
            <a:ext cx="2485861" cy="109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Gdy (When)</a:t>
            </a:r>
          </a:p>
          <a:p>
            <a:pPr algn="ctr">
              <a:lnSpc>
                <a:spcPts val="2240"/>
              </a:lnSpc>
            </a:pPr>
            <a:r>
              <a:rPr lang="en-US" b="true" sz="1400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 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funkcja jest ewaluowana na zadanym przedziale,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rot="0">
            <a:off x="1655656" y="3276238"/>
            <a:ext cx="92720" cy="1367609"/>
          </a:xfrm>
          <a:prstGeom prst="rect">
            <a:avLst/>
          </a:prstGeom>
          <a:solidFill>
            <a:srgbClr val="3F60BF"/>
          </a:solidFill>
        </p:spPr>
      </p:sp>
      <p:sp>
        <p:nvSpPr>
          <p:cNvPr name="AutoShape 33" id="33"/>
          <p:cNvSpPr/>
          <p:nvPr/>
        </p:nvSpPr>
        <p:spPr>
          <a:xfrm rot="0">
            <a:off x="4850173" y="3772036"/>
            <a:ext cx="89708" cy="871811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867272" y="6857911"/>
            <a:ext cx="6483649" cy="62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1640">
                <a:solidFill>
                  <a:srgbClr val="A5BDFF"/>
                </a:solidFill>
                <a:latin typeface="Chakra Petch"/>
                <a:ea typeface="Chakra Petch"/>
                <a:cs typeface="Chakra Petch"/>
                <a:sym typeface="Chakra Petch"/>
              </a:rPr>
              <a:t>Kryteria Akceptacji (GIVEN-WHEN-THEN / DANE-GDY-WTEDY):</a:t>
            </a:r>
          </a:p>
          <a:p>
            <a:pPr algn="ctr">
              <a:lnSpc>
                <a:spcPts val="2624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614262" y="4115576"/>
            <a:ext cx="2904430" cy="2196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Wtedy (Then)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silnik wykrywa asymptotę pionową w x = 2, zapobiega błędnemu łączeniu punktów pionową kreską przez nieskończoność i nanosi przerywaną linię asymptoty pionowej oraz asymptotę ukośną y = x + 2.</a:t>
            </a:r>
          </a:p>
        </p:txBody>
      </p:sp>
      <p:sp>
        <p:nvSpPr>
          <p:cNvPr name="AutoShape 36" id="36"/>
          <p:cNvSpPr/>
          <p:nvPr/>
        </p:nvSpPr>
        <p:spPr>
          <a:xfrm rot="0">
            <a:off x="7984386" y="3524595"/>
            <a:ext cx="128008" cy="323432"/>
          </a:xfrm>
          <a:prstGeom prst="rect">
            <a:avLst/>
          </a:prstGeom>
          <a:solidFill>
            <a:srgbClr val="3F60BF"/>
          </a:solid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20340" y="1993150"/>
            <a:ext cx="2969741" cy="1312371"/>
          </a:xfrm>
          <a:prstGeom prst="rect">
            <a:avLst/>
          </a:prstGeom>
          <a:solidFill>
            <a:srgbClr val="FF914D"/>
          </a:solidFill>
        </p:spPr>
      </p:sp>
      <p:sp>
        <p:nvSpPr>
          <p:cNvPr name="AutoShape 3" id="3"/>
          <p:cNvSpPr/>
          <p:nvPr/>
        </p:nvSpPr>
        <p:spPr>
          <a:xfrm rot="0">
            <a:off x="3391930" y="1993150"/>
            <a:ext cx="2969741" cy="1693162"/>
          </a:xfrm>
          <a:prstGeom prst="rect">
            <a:avLst/>
          </a:prstGeom>
          <a:solidFill>
            <a:srgbClr val="FF751F"/>
          </a:solidFill>
        </p:spPr>
      </p:sp>
      <p:sp>
        <p:nvSpPr>
          <p:cNvPr name="AutoShape 4" id="4"/>
          <p:cNvSpPr/>
          <p:nvPr/>
        </p:nvSpPr>
        <p:spPr>
          <a:xfrm rot="0">
            <a:off x="6563519" y="1993150"/>
            <a:ext cx="2969741" cy="1664450"/>
          </a:xfrm>
          <a:prstGeom prst="rect">
            <a:avLst/>
          </a:prstGeom>
          <a:solidFill>
            <a:srgbClr val="F9C667"/>
          </a:solidFill>
        </p:spPr>
      </p:sp>
      <p:sp>
        <p:nvSpPr>
          <p:cNvPr name="AutoShape 5" id="5"/>
          <p:cNvSpPr/>
          <p:nvPr/>
        </p:nvSpPr>
        <p:spPr>
          <a:xfrm rot="0">
            <a:off x="46228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46228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7" id="7"/>
          <p:cNvSpPr/>
          <p:nvPr/>
        </p:nvSpPr>
        <p:spPr>
          <a:xfrm rot="0">
            <a:off x="46228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447712" y="2185092"/>
            <a:ext cx="2485861" cy="81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Jako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wykładowca przygotowujący materiały do zajęć,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4146" y="148957"/>
            <a:ext cx="6776173" cy="2056870"/>
            <a:chOff x="0" y="0"/>
            <a:chExt cx="9034897" cy="274249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9034897" cy="1094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F9C667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H5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2741" y="1182190"/>
              <a:ext cx="8329415" cy="1560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100" spc="42">
                  <a:solidFill>
                    <a:srgbClr val="FF751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Lekkie Zapisy</a:t>
              </a:r>
              <a:r>
                <a:rPr lang="en-US" sz="2100" spc="42">
                  <a:solidFill>
                    <a:srgbClr val="FF751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wanie i Udostępnianie Stanu przez API Axum</a:t>
              </a:r>
            </a:p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3633870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3" id="13"/>
          <p:cNvSpPr/>
          <p:nvPr/>
        </p:nvSpPr>
        <p:spPr>
          <a:xfrm rot="0">
            <a:off x="3633870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4" id="14"/>
          <p:cNvSpPr/>
          <p:nvPr/>
        </p:nvSpPr>
        <p:spPr>
          <a:xfrm rot="0">
            <a:off x="3633870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3399365" y="2157170"/>
            <a:ext cx="2962305" cy="109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Chcę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z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apisać zdefiniowane funkcje, parametry i widok, aby otrzymać unikalny krótki adres URL,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6805459" y="5867911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7" id="17"/>
          <p:cNvSpPr/>
          <p:nvPr/>
        </p:nvSpPr>
        <p:spPr>
          <a:xfrm rot="0">
            <a:off x="6805459" y="6237512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8" id="18"/>
          <p:cNvSpPr/>
          <p:nvPr/>
        </p:nvSpPr>
        <p:spPr>
          <a:xfrm rot="0">
            <a:off x="6805459" y="6607114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6669921" y="2185092"/>
            <a:ext cx="272780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Aby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studenci mogli jednym kliknięciem otworzyć dokładnie taką samą demonstrację na swoich laptopach.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149" y="1831088"/>
            <a:ext cx="324123" cy="324123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9C667"/>
            </a:solidFill>
          </p:spPr>
        </p:sp>
      </p:grpSp>
      <p:sp>
        <p:nvSpPr>
          <p:cNvPr name="AutoShape 22" id="22"/>
          <p:cNvSpPr/>
          <p:nvPr/>
        </p:nvSpPr>
        <p:spPr>
          <a:xfrm rot="0">
            <a:off x="4714739" y="1831088"/>
            <a:ext cx="324123" cy="324123"/>
          </a:xfrm>
          <a:prstGeom prst="rect">
            <a:avLst/>
          </a:prstGeom>
          <a:solidFill>
            <a:srgbClr val="F9C667"/>
          </a:solidFill>
        </p:spPr>
      </p:sp>
      <p:sp>
        <p:nvSpPr>
          <p:cNvPr name="Freeform 23" id="23"/>
          <p:cNvSpPr/>
          <p:nvPr/>
        </p:nvSpPr>
        <p:spPr>
          <a:xfrm flipH="false" flipV="false" rot="0">
            <a:off x="7857192" y="1831088"/>
            <a:ext cx="382396" cy="331142"/>
          </a:xfrm>
          <a:custGeom>
            <a:avLst/>
            <a:gdLst/>
            <a:ahLst/>
            <a:cxnLst/>
            <a:rect r="r" b="b" t="t" l="l"/>
            <a:pathLst>
              <a:path h="331142" w="382396">
                <a:moveTo>
                  <a:pt x="0" y="0"/>
                </a:moveTo>
                <a:lnTo>
                  <a:pt x="382396" y="0"/>
                </a:lnTo>
                <a:lnTo>
                  <a:pt x="382396" y="331142"/>
                </a:lnTo>
                <a:lnTo>
                  <a:pt x="0" y="331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rot="0">
            <a:off x="46228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5" id="25"/>
          <p:cNvSpPr/>
          <p:nvPr/>
        </p:nvSpPr>
        <p:spPr>
          <a:xfrm rot="0">
            <a:off x="3633870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6" id="26"/>
          <p:cNvSpPr/>
          <p:nvPr/>
        </p:nvSpPr>
        <p:spPr>
          <a:xfrm rot="0">
            <a:off x="6805459" y="5498309"/>
            <a:ext cx="2485861" cy="1524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27" id="27"/>
          <p:cNvSpPr/>
          <p:nvPr/>
        </p:nvSpPr>
        <p:spPr>
          <a:xfrm rot="0">
            <a:off x="205772" y="4410786"/>
            <a:ext cx="2969741" cy="2361400"/>
          </a:xfrm>
          <a:prstGeom prst="rect">
            <a:avLst/>
          </a:prstGeom>
          <a:solidFill>
            <a:srgbClr val="FF914D"/>
          </a:solidFill>
        </p:spPr>
      </p:sp>
      <p:sp>
        <p:nvSpPr>
          <p:cNvPr name="AutoShape 28" id="28"/>
          <p:cNvSpPr/>
          <p:nvPr/>
        </p:nvSpPr>
        <p:spPr>
          <a:xfrm rot="0">
            <a:off x="3377362" y="4511533"/>
            <a:ext cx="2969741" cy="2260653"/>
          </a:xfrm>
          <a:prstGeom prst="rect">
            <a:avLst/>
          </a:prstGeom>
          <a:solidFill>
            <a:srgbClr val="FF751F"/>
          </a:solidFill>
        </p:spPr>
      </p:sp>
      <p:sp>
        <p:nvSpPr>
          <p:cNvPr name="AutoShape 29" id="29"/>
          <p:cNvSpPr/>
          <p:nvPr/>
        </p:nvSpPr>
        <p:spPr>
          <a:xfrm rot="0">
            <a:off x="6548951" y="3952802"/>
            <a:ext cx="2969741" cy="2819384"/>
          </a:xfrm>
          <a:prstGeom prst="rect">
            <a:avLst/>
          </a:prstGeom>
          <a:solidFill>
            <a:srgbClr val="F9C667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447712" y="4944414"/>
            <a:ext cx="248586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Mając (Given) 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skonfigurowany obszar roboczy z wieloma funkcjami i ustawionym widokiem,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619302" y="4944414"/>
            <a:ext cx="2485861" cy="13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Gdy (When)</a:t>
            </a:r>
          </a:p>
          <a:p>
            <a:pPr algn="ctr">
              <a:lnSpc>
                <a:spcPts val="2240"/>
              </a:lnSpc>
            </a:pPr>
            <a:r>
              <a:rPr lang="en-US" b="true" sz="1400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 </a:t>
            </a: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użytkownik kliknie „Udostępnij przestrzeń roboczą”,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rot="0">
            <a:off x="1651356" y="3442611"/>
            <a:ext cx="78572" cy="831084"/>
          </a:xfrm>
          <a:prstGeom prst="rect">
            <a:avLst/>
          </a:prstGeom>
          <a:solidFill>
            <a:srgbClr val="F9C667"/>
          </a:solidFill>
        </p:spPr>
      </p:sp>
      <p:sp>
        <p:nvSpPr>
          <p:cNvPr name="AutoShape 33" id="33"/>
          <p:cNvSpPr/>
          <p:nvPr/>
        </p:nvSpPr>
        <p:spPr>
          <a:xfrm rot="0">
            <a:off x="4862232" y="3772036"/>
            <a:ext cx="77650" cy="596621"/>
          </a:xfrm>
          <a:prstGeom prst="rect">
            <a:avLst/>
          </a:prstGeom>
          <a:solidFill>
            <a:srgbClr val="F9C667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867272" y="6857911"/>
            <a:ext cx="6483649" cy="62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  <a:spcBef>
                <a:spcPct val="0"/>
              </a:spcBef>
            </a:pPr>
            <a:r>
              <a:rPr lang="en-US" sz="1640">
                <a:solidFill>
                  <a:srgbClr val="A5BDFF"/>
                </a:solidFill>
                <a:latin typeface="Chakra Petch"/>
                <a:ea typeface="Chakra Petch"/>
                <a:cs typeface="Chakra Petch"/>
                <a:sym typeface="Chakra Petch"/>
              </a:rPr>
              <a:t>Kryteria Akceptacji (GIVEN-WHEN-THEN / DANE-GDY-WTEDY):</a:t>
            </a:r>
          </a:p>
          <a:p>
            <a:pPr algn="ctr">
              <a:lnSpc>
                <a:spcPts val="2624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614262" y="3959509"/>
            <a:ext cx="2904430" cy="27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400" b="true">
                <a:solidFill>
                  <a:srgbClr val="FFFF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Wtedy (Then)</a:t>
            </a:r>
          </a:p>
          <a:p>
            <a:pPr algn="ctr">
              <a:lnSpc>
                <a:spcPts val="2240"/>
              </a:lnSpc>
            </a:pPr>
            <a:r>
              <a:rPr lang="en-US" sz="14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interfejs Svelte serializuje stan do formatu JSON i wykonuje zapytanie POST /api/workspaces do API Axum; backend zwraca krótki identyfikator w czasie &lt; 50ms, a użytkownik otrzymuje link pozwalający na identyczne odtworzenie widoku po stronie klienta.</a:t>
            </a:r>
          </a:p>
        </p:txBody>
      </p:sp>
      <p:sp>
        <p:nvSpPr>
          <p:cNvPr name="AutoShape 36" id="36"/>
          <p:cNvSpPr/>
          <p:nvPr/>
        </p:nvSpPr>
        <p:spPr>
          <a:xfrm rot="0">
            <a:off x="7984386" y="3733800"/>
            <a:ext cx="82091" cy="152327"/>
          </a:xfrm>
          <a:prstGeom prst="rect">
            <a:avLst/>
          </a:prstGeom>
          <a:solidFill>
            <a:srgbClr val="FF751F"/>
          </a:solid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4246048" cy="7315200"/>
          </a:xfrm>
          <a:prstGeom prst="rect">
            <a:avLst/>
          </a:prstGeom>
          <a:solidFill>
            <a:srgbClr val="A5BD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60547" y="1247528"/>
            <a:ext cx="365064" cy="263510"/>
          </a:xfrm>
          <a:custGeom>
            <a:avLst/>
            <a:gdLst/>
            <a:ahLst/>
            <a:cxnLst/>
            <a:rect r="r" b="b" t="t" l="l"/>
            <a:pathLst>
              <a:path h="263510" w="365064">
                <a:moveTo>
                  <a:pt x="0" y="0"/>
                </a:moveTo>
                <a:lnTo>
                  <a:pt x="365064" y="0"/>
                </a:lnTo>
                <a:lnTo>
                  <a:pt x="365064" y="263509"/>
                </a:lnTo>
                <a:lnTo>
                  <a:pt x="0" y="26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8189" y="2050220"/>
            <a:ext cx="289780" cy="380379"/>
          </a:xfrm>
          <a:custGeom>
            <a:avLst/>
            <a:gdLst/>
            <a:ahLst/>
            <a:cxnLst/>
            <a:rect r="r" b="b" t="t" l="l"/>
            <a:pathLst>
              <a:path h="380379" w="289780">
                <a:moveTo>
                  <a:pt x="0" y="0"/>
                </a:moveTo>
                <a:lnTo>
                  <a:pt x="289780" y="0"/>
                </a:lnTo>
                <a:lnTo>
                  <a:pt x="289780" y="380380"/>
                </a:lnTo>
                <a:lnTo>
                  <a:pt x="0" y="380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7572" y="2079438"/>
            <a:ext cx="328515" cy="321944"/>
          </a:xfrm>
          <a:custGeom>
            <a:avLst/>
            <a:gdLst/>
            <a:ahLst/>
            <a:cxnLst/>
            <a:rect r="r" b="b" t="t" l="l"/>
            <a:pathLst>
              <a:path h="321944" w="328515">
                <a:moveTo>
                  <a:pt x="0" y="0"/>
                </a:moveTo>
                <a:lnTo>
                  <a:pt x="328515" y="0"/>
                </a:lnTo>
                <a:lnTo>
                  <a:pt x="328515" y="321944"/>
                </a:lnTo>
                <a:lnTo>
                  <a:pt x="0" y="3219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30908" y="2050220"/>
            <a:ext cx="253817" cy="380379"/>
          </a:xfrm>
          <a:custGeom>
            <a:avLst/>
            <a:gdLst/>
            <a:ahLst/>
            <a:cxnLst/>
            <a:rect r="r" b="b" t="t" l="l"/>
            <a:pathLst>
              <a:path h="380379" w="253817">
                <a:moveTo>
                  <a:pt x="0" y="0"/>
                </a:moveTo>
                <a:lnTo>
                  <a:pt x="253816" y="0"/>
                </a:lnTo>
                <a:lnTo>
                  <a:pt x="253816" y="380380"/>
                </a:lnTo>
                <a:lnTo>
                  <a:pt x="0" y="380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3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6692" y="2077204"/>
            <a:ext cx="309202" cy="326413"/>
          </a:xfrm>
          <a:custGeom>
            <a:avLst/>
            <a:gdLst/>
            <a:ahLst/>
            <a:cxnLst/>
            <a:rect r="r" b="b" t="t" l="l"/>
            <a:pathLst>
              <a:path h="326413" w="309202">
                <a:moveTo>
                  <a:pt x="0" y="0"/>
                </a:moveTo>
                <a:lnTo>
                  <a:pt x="309202" y="0"/>
                </a:lnTo>
                <a:lnTo>
                  <a:pt x="309202" y="326412"/>
                </a:lnTo>
                <a:lnTo>
                  <a:pt x="0" y="3264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26147" y="2050220"/>
            <a:ext cx="338883" cy="380379"/>
          </a:xfrm>
          <a:custGeom>
            <a:avLst/>
            <a:gdLst/>
            <a:ahLst/>
            <a:cxnLst/>
            <a:rect r="r" b="b" t="t" l="l"/>
            <a:pathLst>
              <a:path h="380379" w="338883">
                <a:moveTo>
                  <a:pt x="0" y="0"/>
                </a:moveTo>
                <a:lnTo>
                  <a:pt x="338884" y="0"/>
                </a:lnTo>
                <a:lnTo>
                  <a:pt x="338884" y="380380"/>
                </a:lnTo>
                <a:lnTo>
                  <a:pt x="0" y="3803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17148" y="1247528"/>
            <a:ext cx="368353" cy="286646"/>
          </a:xfrm>
          <a:custGeom>
            <a:avLst/>
            <a:gdLst/>
            <a:ahLst/>
            <a:cxnLst/>
            <a:rect r="r" b="b" t="t" l="l"/>
            <a:pathLst>
              <a:path h="286646" w="368353">
                <a:moveTo>
                  <a:pt x="0" y="0"/>
                </a:moveTo>
                <a:lnTo>
                  <a:pt x="368353" y="0"/>
                </a:lnTo>
                <a:lnTo>
                  <a:pt x="368353" y="286645"/>
                </a:lnTo>
                <a:lnTo>
                  <a:pt x="0" y="2866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7003" y="5687293"/>
            <a:ext cx="152152" cy="380379"/>
          </a:xfrm>
          <a:custGeom>
            <a:avLst/>
            <a:gdLst/>
            <a:ahLst/>
            <a:cxnLst/>
            <a:rect r="r" b="b" t="t" l="l"/>
            <a:pathLst>
              <a:path h="380379" w="152152">
                <a:moveTo>
                  <a:pt x="0" y="0"/>
                </a:moveTo>
                <a:lnTo>
                  <a:pt x="152152" y="0"/>
                </a:lnTo>
                <a:lnTo>
                  <a:pt x="152152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3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6247" y="5743776"/>
            <a:ext cx="391164" cy="267414"/>
          </a:xfrm>
          <a:custGeom>
            <a:avLst/>
            <a:gdLst/>
            <a:ahLst/>
            <a:cxnLst/>
            <a:rect r="r" b="b" t="t" l="l"/>
            <a:pathLst>
              <a:path h="267414" w="391164">
                <a:moveTo>
                  <a:pt x="0" y="0"/>
                </a:moveTo>
                <a:lnTo>
                  <a:pt x="391165" y="0"/>
                </a:lnTo>
                <a:lnTo>
                  <a:pt x="391165" y="267414"/>
                </a:lnTo>
                <a:lnTo>
                  <a:pt x="0" y="2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95908" y="5716457"/>
            <a:ext cx="323817" cy="322051"/>
          </a:xfrm>
          <a:custGeom>
            <a:avLst/>
            <a:gdLst/>
            <a:ahLst/>
            <a:cxnLst/>
            <a:rect r="r" b="b" t="t" l="l"/>
            <a:pathLst>
              <a:path h="322051" w="323817">
                <a:moveTo>
                  <a:pt x="0" y="0"/>
                </a:moveTo>
                <a:lnTo>
                  <a:pt x="323816" y="0"/>
                </a:lnTo>
                <a:lnTo>
                  <a:pt x="323816" y="322051"/>
                </a:lnTo>
                <a:lnTo>
                  <a:pt x="0" y="32205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13000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41787" y="5687293"/>
            <a:ext cx="139011" cy="380379"/>
          </a:xfrm>
          <a:custGeom>
            <a:avLst/>
            <a:gdLst/>
            <a:ahLst/>
            <a:cxnLst/>
            <a:rect r="r" b="b" t="t" l="l"/>
            <a:pathLst>
              <a:path h="380379" w="139011">
                <a:moveTo>
                  <a:pt x="0" y="0"/>
                </a:moveTo>
                <a:lnTo>
                  <a:pt x="139012" y="0"/>
                </a:lnTo>
                <a:lnTo>
                  <a:pt x="139012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3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26147" y="5714511"/>
            <a:ext cx="338883" cy="325944"/>
          </a:xfrm>
          <a:custGeom>
            <a:avLst/>
            <a:gdLst/>
            <a:ahLst/>
            <a:cxnLst/>
            <a:rect r="r" b="b" t="t" l="l"/>
            <a:pathLst>
              <a:path h="325944" w="338883">
                <a:moveTo>
                  <a:pt x="0" y="0"/>
                </a:moveTo>
                <a:lnTo>
                  <a:pt x="338884" y="0"/>
                </a:lnTo>
                <a:lnTo>
                  <a:pt x="338884" y="325944"/>
                </a:lnTo>
                <a:lnTo>
                  <a:pt x="0" y="32594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13000"/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896263" y="1247528"/>
            <a:ext cx="219237" cy="380379"/>
          </a:xfrm>
          <a:custGeom>
            <a:avLst/>
            <a:gdLst/>
            <a:ahLst/>
            <a:cxnLst/>
            <a:rect r="r" b="b" t="t" l="l"/>
            <a:pathLst>
              <a:path h="380379" w="219237">
                <a:moveTo>
                  <a:pt x="0" y="0"/>
                </a:moveTo>
                <a:lnTo>
                  <a:pt x="219237" y="0"/>
                </a:lnTo>
                <a:lnTo>
                  <a:pt x="219237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13000"/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10292" y="4778025"/>
            <a:ext cx="265574" cy="380379"/>
          </a:xfrm>
          <a:custGeom>
            <a:avLst/>
            <a:gdLst/>
            <a:ahLst/>
            <a:cxnLst/>
            <a:rect r="r" b="b" t="t" l="l"/>
            <a:pathLst>
              <a:path h="380379" w="265574">
                <a:moveTo>
                  <a:pt x="0" y="0"/>
                </a:moveTo>
                <a:lnTo>
                  <a:pt x="265574" y="0"/>
                </a:lnTo>
                <a:lnTo>
                  <a:pt x="265574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alphaModFix amt="13000"/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19014" y="4778025"/>
            <a:ext cx="285630" cy="380379"/>
          </a:xfrm>
          <a:custGeom>
            <a:avLst/>
            <a:gdLst/>
            <a:ahLst/>
            <a:cxnLst/>
            <a:rect r="r" b="b" t="t" l="l"/>
            <a:pathLst>
              <a:path h="380379" w="285630">
                <a:moveTo>
                  <a:pt x="0" y="0"/>
                </a:moveTo>
                <a:lnTo>
                  <a:pt x="285631" y="0"/>
                </a:lnTo>
                <a:lnTo>
                  <a:pt x="285631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alphaModFix amt="13000"/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811197" y="4778025"/>
            <a:ext cx="293238" cy="380379"/>
          </a:xfrm>
          <a:custGeom>
            <a:avLst/>
            <a:gdLst/>
            <a:ahLst/>
            <a:cxnLst/>
            <a:rect r="r" b="b" t="t" l="l"/>
            <a:pathLst>
              <a:path h="380379" w="293238">
                <a:moveTo>
                  <a:pt x="0" y="0"/>
                </a:moveTo>
                <a:lnTo>
                  <a:pt x="293238" y="0"/>
                </a:lnTo>
                <a:lnTo>
                  <a:pt x="293238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alphaModFix amt="13000"/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027610" y="4778025"/>
            <a:ext cx="167367" cy="380379"/>
          </a:xfrm>
          <a:custGeom>
            <a:avLst/>
            <a:gdLst/>
            <a:ahLst/>
            <a:cxnLst/>
            <a:rect r="r" b="b" t="t" l="l"/>
            <a:pathLst>
              <a:path h="380379" w="167367">
                <a:moveTo>
                  <a:pt x="0" y="0"/>
                </a:moveTo>
                <a:lnTo>
                  <a:pt x="167366" y="0"/>
                </a:lnTo>
                <a:lnTo>
                  <a:pt x="167366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alphaModFix amt="13000"/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647429" y="4820055"/>
            <a:ext cx="296320" cy="296320"/>
          </a:xfrm>
          <a:custGeom>
            <a:avLst/>
            <a:gdLst/>
            <a:ahLst/>
            <a:cxnLst/>
            <a:rect r="r" b="b" t="t" l="l"/>
            <a:pathLst>
              <a:path h="296320" w="296320">
                <a:moveTo>
                  <a:pt x="0" y="0"/>
                </a:moveTo>
                <a:lnTo>
                  <a:pt x="296320" y="0"/>
                </a:lnTo>
                <a:lnTo>
                  <a:pt x="296320" y="296319"/>
                </a:lnTo>
                <a:lnTo>
                  <a:pt x="0" y="296319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alphaModFix amt="13000"/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51552" y="1247528"/>
            <a:ext cx="343062" cy="334330"/>
          </a:xfrm>
          <a:custGeom>
            <a:avLst/>
            <a:gdLst/>
            <a:ahLst/>
            <a:cxnLst/>
            <a:rect r="r" b="b" t="t" l="l"/>
            <a:pathLst>
              <a:path h="334330" w="343062">
                <a:moveTo>
                  <a:pt x="0" y="0"/>
                </a:moveTo>
                <a:lnTo>
                  <a:pt x="343062" y="0"/>
                </a:lnTo>
                <a:lnTo>
                  <a:pt x="343062" y="334330"/>
                </a:lnTo>
                <a:lnTo>
                  <a:pt x="0" y="33433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alphaModFix amt="13000"/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03376" y="3868757"/>
            <a:ext cx="279406" cy="380379"/>
          </a:xfrm>
          <a:custGeom>
            <a:avLst/>
            <a:gdLst/>
            <a:ahLst/>
            <a:cxnLst/>
            <a:rect r="r" b="b" t="t" l="l"/>
            <a:pathLst>
              <a:path h="380379" w="279406">
                <a:moveTo>
                  <a:pt x="0" y="0"/>
                </a:moveTo>
                <a:lnTo>
                  <a:pt x="279406" y="0"/>
                </a:lnTo>
                <a:lnTo>
                  <a:pt x="279406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alphaModFix amt="13000"/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92734" y="3868757"/>
            <a:ext cx="338192" cy="380379"/>
          </a:xfrm>
          <a:custGeom>
            <a:avLst/>
            <a:gdLst/>
            <a:ahLst/>
            <a:cxnLst/>
            <a:rect r="r" b="b" t="t" l="l"/>
            <a:pathLst>
              <a:path h="380379" w="338192">
                <a:moveTo>
                  <a:pt x="0" y="0"/>
                </a:moveTo>
                <a:lnTo>
                  <a:pt x="338191" y="0"/>
                </a:lnTo>
                <a:lnTo>
                  <a:pt x="338191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alphaModFix amt="13000"/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809122" y="3868757"/>
            <a:ext cx="297388" cy="380379"/>
          </a:xfrm>
          <a:custGeom>
            <a:avLst/>
            <a:gdLst/>
            <a:ahLst/>
            <a:cxnLst/>
            <a:rect r="r" b="b" t="t" l="l"/>
            <a:pathLst>
              <a:path h="380379" w="297388">
                <a:moveTo>
                  <a:pt x="0" y="0"/>
                </a:moveTo>
                <a:lnTo>
                  <a:pt x="297388" y="0"/>
                </a:lnTo>
                <a:lnTo>
                  <a:pt x="297388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alphaModFix amt="13000"/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13927" y="3899618"/>
            <a:ext cx="394732" cy="318656"/>
          </a:xfrm>
          <a:custGeom>
            <a:avLst/>
            <a:gdLst/>
            <a:ahLst/>
            <a:cxnLst/>
            <a:rect r="r" b="b" t="t" l="l"/>
            <a:pathLst>
              <a:path h="318656" w="394732">
                <a:moveTo>
                  <a:pt x="0" y="0"/>
                </a:moveTo>
                <a:lnTo>
                  <a:pt x="394732" y="0"/>
                </a:lnTo>
                <a:lnTo>
                  <a:pt x="394732" y="318657"/>
                </a:lnTo>
                <a:lnTo>
                  <a:pt x="0" y="318657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alphaModFix amt="13000"/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606973" y="3925201"/>
            <a:ext cx="377232" cy="267492"/>
          </a:xfrm>
          <a:custGeom>
            <a:avLst/>
            <a:gdLst/>
            <a:ahLst/>
            <a:cxnLst/>
            <a:rect r="r" b="b" t="t" l="l"/>
            <a:pathLst>
              <a:path h="267492" w="377232">
                <a:moveTo>
                  <a:pt x="0" y="0"/>
                </a:moveTo>
                <a:lnTo>
                  <a:pt x="377232" y="0"/>
                </a:lnTo>
                <a:lnTo>
                  <a:pt x="377232" y="267491"/>
                </a:lnTo>
                <a:lnTo>
                  <a:pt x="0" y="267491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alphaModFix amt="13000"/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27259" y="1247528"/>
            <a:ext cx="422644" cy="380379"/>
          </a:xfrm>
          <a:custGeom>
            <a:avLst/>
            <a:gdLst/>
            <a:ahLst/>
            <a:cxnLst/>
            <a:rect r="r" b="b" t="t" l="l"/>
            <a:pathLst>
              <a:path h="380379" w="422644">
                <a:moveTo>
                  <a:pt x="0" y="0"/>
                </a:moveTo>
                <a:lnTo>
                  <a:pt x="422644" y="0"/>
                </a:lnTo>
                <a:lnTo>
                  <a:pt x="422644" y="380379"/>
                </a:lnTo>
                <a:lnTo>
                  <a:pt x="0" y="380379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alphaModFix amt="13000"/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76426" y="2978353"/>
            <a:ext cx="333306" cy="342651"/>
          </a:xfrm>
          <a:custGeom>
            <a:avLst/>
            <a:gdLst/>
            <a:ahLst/>
            <a:cxnLst/>
            <a:rect r="r" b="b" t="t" l="l"/>
            <a:pathLst>
              <a:path h="342651" w="333306">
                <a:moveTo>
                  <a:pt x="0" y="0"/>
                </a:moveTo>
                <a:lnTo>
                  <a:pt x="333306" y="0"/>
                </a:lnTo>
                <a:lnTo>
                  <a:pt x="333306" y="342651"/>
                </a:lnTo>
                <a:lnTo>
                  <a:pt x="0" y="342651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alphaModFix amt="13000"/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85040" y="2978353"/>
            <a:ext cx="353580" cy="342651"/>
          </a:xfrm>
          <a:custGeom>
            <a:avLst/>
            <a:gdLst/>
            <a:ahLst/>
            <a:cxnLst/>
            <a:rect r="r" b="b" t="t" l="l"/>
            <a:pathLst>
              <a:path h="342651" w="353580">
                <a:moveTo>
                  <a:pt x="0" y="0"/>
                </a:moveTo>
                <a:lnTo>
                  <a:pt x="353579" y="0"/>
                </a:lnTo>
                <a:lnTo>
                  <a:pt x="353579" y="342651"/>
                </a:lnTo>
                <a:lnTo>
                  <a:pt x="0" y="342651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alphaModFix amt="13000"/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765174" y="2959488"/>
            <a:ext cx="385283" cy="380379"/>
          </a:xfrm>
          <a:custGeom>
            <a:avLst/>
            <a:gdLst/>
            <a:ahLst/>
            <a:cxnLst/>
            <a:rect r="r" b="b" t="t" l="l"/>
            <a:pathLst>
              <a:path h="380379" w="385283">
                <a:moveTo>
                  <a:pt x="0" y="0"/>
                </a:moveTo>
                <a:lnTo>
                  <a:pt x="385283" y="0"/>
                </a:lnTo>
                <a:lnTo>
                  <a:pt x="385283" y="380380"/>
                </a:lnTo>
                <a:lnTo>
                  <a:pt x="0" y="38038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alphaModFix amt="13000"/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968824" y="2959488"/>
            <a:ext cx="284939" cy="380379"/>
          </a:xfrm>
          <a:custGeom>
            <a:avLst/>
            <a:gdLst/>
            <a:ahLst/>
            <a:cxnLst/>
            <a:rect r="r" b="b" t="t" l="l"/>
            <a:pathLst>
              <a:path h="380379" w="284939">
                <a:moveTo>
                  <a:pt x="0" y="0"/>
                </a:moveTo>
                <a:lnTo>
                  <a:pt x="284938" y="0"/>
                </a:lnTo>
                <a:lnTo>
                  <a:pt x="284938" y="380380"/>
                </a:lnTo>
                <a:lnTo>
                  <a:pt x="0" y="380380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alphaModFix amt="13000"/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670755" y="2959488"/>
            <a:ext cx="249667" cy="380379"/>
          </a:xfrm>
          <a:custGeom>
            <a:avLst/>
            <a:gdLst/>
            <a:ahLst/>
            <a:cxnLst/>
            <a:rect r="r" b="b" t="t" l="l"/>
            <a:pathLst>
              <a:path h="380379" w="249667">
                <a:moveTo>
                  <a:pt x="0" y="0"/>
                </a:moveTo>
                <a:lnTo>
                  <a:pt x="249667" y="0"/>
                </a:lnTo>
                <a:lnTo>
                  <a:pt x="249667" y="380380"/>
                </a:lnTo>
                <a:lnTo>
                  <a:pt x="0" y="38038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alphaModFix amt="13000"/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534412" y="0"/>
            <a:ext cx="7219188" cy="7315200"/>
          </a:xfrm>
          <a:custGeom>
            <a:avLst/>
            <a:gdLst/>
            <a:ahLst/>
            <a:cxnLst/>
            <a:rect r="r" b="b" t="t" l="l"/>
            <a:pathLst>
              <a:path h="7315200" w="7219188">
                <a:moveTo>
                  <a:pt x="0" y="0"/>
                </a:moveTo>
                <a:lnTo>
                  <a:pt x="7219188" y="0"/>
                </a:lnTo>
                <a:lnTo>
                  <a:pt x="7219188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-58994" y="2743254"/>
            <a:ext cx="2641648" cy="182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 spc="6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Diag</a:t>
            </a:r>
            <a:r>
              <a:rPr lang="en-US" b="true" sz="3000" spc="60">
                <a:solidFill>
                  <a:srgbClr val="204295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ram Przypadków Użycia </a:t>
            </a:r>
          </a:p>
          <a:p>
            <a:pPr algn="ctr">
              <a:lnSpc>
                <a:spcPts val="3600"/>
              </a:lnSpc>
            </a:pPr>
            <a:r>
              <a:rPr lang="en-US" sz="3000" spc="6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rPr>
              <a:t>(UML)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5B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355" y="52395"/>
            <a:ext cx="9484891" cy="73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4700" b="true">
                <a:solidFill>
                  <a:srgbClr val="FFFFFF"/>
                </a:solidFill>
                <a:latin typeface="Catamaran Heavy"/>
                <a:ea typeface="Catamaran Heavy"/>
                <a:cs typeface="Catamaran Heavy"/>
                <a:sym typeface="Catamaran Heavy"/>
              </a:rPr>
              <a:t>Wym</a:t>
            </a:r>
            <a:r>
              <a:rPr lang="en-US" sz="4700" b="true">
                <a:solidFill>
                  <a:srgbClr val="FFFFFF"/>
                </a:solidFill>
                <a:latin typeface="Catamaran Heavy"/>
                <a:ea typeface="Catamaran Heavy"/>
                <a:cs typeface="Catamaran Heavy"/>
                <a:sym typeface="Catamaran Heavy"/>
              </a:rPr>
              <a:t>agania Jakościowe ISO 25010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219200" y="-138147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1029" y="909973"/>
            <a:ext cx="8951541" cy="6003572"/>
          </a:xfrm>
          <a:custGeom>
            <a:avLst/>
            <a:gdLst/>
            <a:ahLst/>
            <a:cxnLst/>
            <a:rect r="r" b="b" t="t" l="l"/>
            <a:pathLst>
              <a:path h="6003572" w="8951541">
                <a:moveTo>
                  <a:pt x="0" y="0"/>
                </a:moveTo>
                <a:lnTo>
                  <a:pt x="8951542" y="0"/>
                </a:lnTo>
                <a:lnTo>
                  <a:pt x="8951542" y="6003571"/>
                </a:lnTo>
                <a:lnTo>
                  <a:pt x="0" y="6003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3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DAHYjxnZS6k</dc:identifier>
  <dcterms:modified xsi:type="dcterms:W3CDTF">2011-08-01T06:04:30Z</dcterms:modified>
  <cp:revision>1</cp:revision>
  <dc:title>Projekt</dc:title>
</cp:coreProperties>
</file>